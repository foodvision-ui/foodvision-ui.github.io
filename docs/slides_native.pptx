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21945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EECS 449 ·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51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D291E"/>
                </a:solidFill>
                <a:latin typeface="Outfit"/>
              </a:rPr>
              <a:t>FoodVision </a:t>
            </a:r>
            <a:r>
              <a:rPr sz="9600" b="1">
                <a:solidFill>
                  <a:srgbClr val="FF6633"/>
                </a:solidFill>
                <a:latin typeface="Outfit"/>
              </a:rPr>
              <a:t>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0233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6F4A36"/>
                </a:solidFill>
                <a:latin typeface="Outfit"/>
              </a:rPr>
              <a:t>Meal planning that learns from you,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4805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6F4A36"/>
                </a:solidFill>
                <a:latin typeface="Outfit"/>
              </a:rPr>
              <a:t>not from your onboarding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805941"/>
                </a:solidFill>
                <a:latin typeface="Outfit"/>
              </a:rPr>
              <a:t>Yizhong Zhong · April 2026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FOODVISION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01 · TITLE</a:t>
            </a:r>
          </a:p>
        </p:txBody>
      </p:sp>
    </p:spTree>
  </p:cSld>
  <p:clrMapOvr>
    <a:masterClrMapping/>
  </p:clrMapOvr>
  <p:transition spd="med" dur="5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9144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THE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3D291E"/>
                </a:solidFill>
                <a:latin typeface="Outfit"/>
              </a:rPr>
              <a:t>It's 7pm.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9260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3D291E"/>
                </a:solidFill>
                <a:latin typeface="Outfit"/>
              </a:rPr>
              <a:t>You open the fridge.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206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F6633"/>
                </a:solidFill>
                <a:latin typeface="Outfit"/>
              </a:rPr>
              <a:t>You don't know what to make.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02 · PROBLEM</a:t>
            </a:r>
          </a:p>
        </p:txBody>
      </p:sp>
    </p:spTree>
  </p:cSld>
  <p:clrMapOvr>
    <a:masterClrMapping/>
  </p:clrMapOvr>
  <p:transition spd="med" dur="5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THE OPTIONS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D291E"/>
                </a:solidFill>
                <a:latin typeface="Outfit"/>
              </a:rPr>
              <a:t>Every food app, same failure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7432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971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✕  GOOGLE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4747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291E"/>
                </a:solidFill>
                <a:latin typeface="Outfit"/>
              </a:rPr>
              <a:t>Google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20624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F4A36"/>
                </a:solidFill>
                <a:latin typeface="Outfit"/>
              </a:rPr>
              <a:t>Same 10 recipes everyone else sees.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7432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971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✕  PERSONALIZED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4747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291E"/>
                </a:solidFill>
                <a:latin typeface="Outfit"/>
              </a:rPr>
              <a:t>Personalized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420624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F4A36"/>
                </a:solidFill>
                <a:latin typeface="Outfit"/>
              </a:rPr>
              <a:t>40-field profile before your first meal.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27432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971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✕  THE "SMART" 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4747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291E"/>
                </a:solidFill>
                <a:latin typeface="Outfit"/>
              </a:rPr>
              <a:t>The "smart" 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420624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F4A36"/>
                </a:solidFill>
                <a:latin typeface="Outfit"/>
              </a:rPr>
              <a:t>Never update after the first week.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FAILURE 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03 · TODAY</a:t>
            </a:r>
          </a:p>
        </p:txBody>
      </p:sp>
    </p:spTree>
  </p:cSld>
  <p:clrMapOvr>
    <a:masterClrMapping/>
  </p:clrMapOvr>
  <p:transition spd="med" dur="5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9144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FOODVISION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3D291E"/>
                </a:solidFill>
                <a:latin typeface="Outfit"/>
              </a:rPr>
              <a:t>Photo in. Recipe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20040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F6633"/>
                </a:solidFill>
                <a:latin typeface="Outfit"/>
              </a:rPr>
              <a:t>Profile builds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937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6F4A36"/>
                </a:solidFill>
                <a:latin typeface="Outfit"/>
              </a:rPr>
              <a:t>Starts with zero knowledge about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394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6F4A36"/>
                </a:solidFill>
                <a:latin typeface="Outfit"/>
              </a:rPr>
              <a:t>Gets smarter every time you cook.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THE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04 · SOLUTION</a:t>
            </a:r>
          </a:p>
        </p:txBody>
      </p:sp>
    </p:spTree>
  </p:cSld>
  <p:clrMapOvr>
    <a:masterClrMapping/>
  </p:clrMapOvr>
  <p:transition spd="med" dur="5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EVERY TIME YOU COOK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D291E"/>
                </a:solidFill>
                <a:latin typeface="Outfit"/>
              </a:rPr>
              <a:t>Three moments, every meal.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74320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971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4747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Photo in, recipe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29768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F4A36"/>
                </a:solidFill>
                <a:latin typeface="Outfit"/>
              </a:rPr>
              <a:t>Vision model reads your fridge and proposes a dish.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74320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971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4747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429768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F4A36"/>
                </a:solidFill>
                <a:latin typeface="Outfit"/>
              </a:rPr>
              <a:t>Last 14 days of meals feed the next prompt.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274320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971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4747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Quiet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429768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F4A36"/>
                </a:solidFill>
                <a:latin typeface="Outfit"/>
              </a:rPr>
              <a:t>Cooked Korean three times? Korean shows up in your profile. You never typed 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HOW IT FEELS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05 · LOOPS</a:t>
            </a:r>
          </a:p>
        </p:txBody>
      </p:sp>
    </p:spTree>
  </p:cSld>
  <p:clrMapOvr>
    <a:masterClrMapping/>
  </p:clrMapOvr>
  <p:transition spd="med" dur="5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SWITCH TO THE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945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3D291E"/>
                </a:solidFill>
                <a:latin typeface="Outfit"/>
              </a:rPr>
              <a:t>Landing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6576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6633"/>
                </a:solidFill>
                <a:latin typeface="JetBrains Mono"/>
              </a:rPr>
              <a:t>→  localhost:3000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846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6F4A36"/>
                </a:solidFill>
                <a:latin typeface="Outfit"/>
              </a:rPr>
              <a:t>The same "It's 7pm" hook the talk opened with.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3492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6F4A36"/>
                </a:solidFill>
                <a:latin typeface="Outfit"/>
              </a:rPr>
              <a:t>One primary CTA: Start Planning →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LIVE 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06 · LANDING</a:t>
            </a:r>
          </a:p>
        </p:txBody>
      </p:sp>
    </p:spTree>
  </p:cSld>
  <p:clrMapOvr>
    <a:masterClrMapping/>
  </p:clrMapOvr>
  <p:transition spd="med" dur="600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D291E"/>
                </a:solidFill>
                <a:latin typeface="Outfit"/>
              </a:rPr>
              <a:t>Thin browser. Jac backend. AI at the 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9260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063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5204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HTML ·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20624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4A36"/>
                </a:solidFill>
                <a:latin typeface="Outfit"/>
              </a:rPr>
              <a:t>Thin UI. JWT in localStorage. Sends photo + prompt.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06240" y="3749039"/>
            <a:ext cx="731520" cy="457200"/>
          </a:xfrm>
          <a:prstGeom prst="rightArrow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29260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063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5204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Jaseci · Jac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20624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4A36"/>
                </a:solidFill>
                <a:latin typeface="Outfit"/>
              </a:rPr>
              <a:t>Per-user graph. Auth. Stores profile + meals.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58200" y="3749039"/>
            <a:ext cx="731520" cy="457200"/>
          </a:xfrm>
          <a:prstGeom prst="rightArrow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2926080"/>
            <a:ext cx="2286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0632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33"/>
                </a:solidFill>
                <a:latin typeface="Outfit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5204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291E"/>
                </a:solidFill>
                <a:latin typeface="Outfit"/>
              </a:rPr>
              <a:t>Qwen3-VL-32B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1148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F4A36"/>
                </a:solidFill>
                <a:latin typeface="Outfit"/>
              </a:rPr>
              <a:t>via OpenRouter. Vision + reasoning.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577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805941"/>
                </a:solidFill>
                <a:latin typeface="Outfit"/>
              </a:rPr>
              <a:t>Graph-native storage means no ORM. JWT auth is built 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07 · ARCHITECTURE</a:t>
            </a:r>
          </a:p>
        </p:txBody>
      </p:sp>
    </p:spTree>
  </p:cSld>
  <p:clrMapOvr>
    <a:masterClrMapping/>
  </p:clrMapOvr>
  <p:transition spd="med" dur="5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THE LEARNING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D291E"/>
                </a:solidFill>
                <a:latin typeface="Outfit"/>
              </a:rPr>
              <a:t>After each meal, call the AI a second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651760"/>
            <a:ext cx="10698480" cy="1737360"/>
          </a:xfrm>
          <a:prstGeom prst="roundRect">
            <a:avLst>
              <a:gd name="adj" fmla="val 6000"/>
            </a:avLst>
          </a:prstGeom>
          <a:solidFill>
            <a:srgbClr val="FFE9D6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33"/>
                </a:solidFill>
                <a:latin typeface="Outfit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"Here's the profile. Here are their recent meals. Suggest additive updates based on patterns."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47548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33"/>
                </a:solidFill>
                <a:latin typeface="Outfit"/>
              </a:rPr>
              <a:t>RULE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91E"/>
                </a:solidFill>
                <a:latin typeface="Outfit"/>
              </a:rPr>
              <a:t>Additive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F4A36"/>
                </a:solidFill>
                <a:latin typeface="Outfit"/>
              </a:rPr>
              <a:t>The AI can never delete what the user 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475488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937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33"/>
                </a:solidFill>
                <a:latin typeface="Outfit"/>
              </a:rPr>
              <a:t>RULE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257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91E"/>
                </a:solidFill>
                <a:latin typeface="Outfit"/>
              </a:rPr>
              <a:t>Provenance.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669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F4A36"/>
                </a:solidFill>
                <a:latin typeface="Outfit"/>
              </a:rPr>
              <a:t>Learned fields get a badge, so it's never a lie.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THE NOVEL PART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08 · LOOP</a:t>
            </a:r>
          </a:p>
        </p:txBody>
      </p:sp>
    </p:spTree>
  </p:cSld>
  <p:clrMapOvr>
    <a:masterClrMapping/>
  </p:clrMapOvr>
  <p:transition spd="med" dur="5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D291E"/>
                </a:solidFill>
                <a:latin typeface="Outfit"/>
              </a:rPr>
              <a:t>Watch for four things.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5176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6633"/>
                </a:solidFill>
                <a:latin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51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Real AI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004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F4A36"/>
                </a:solidFill>
                <a:latin typeface="Outfit"/>
              </a:rPr>
              <a:t>No cached responses.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56616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6633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661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Three Korean meals.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1148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F4A36"/>
                </a:solidFill>
                <a:latin typeface="Outfit"/>
              </a:rPr>
              <a:t>No manual preferences typed.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48056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6633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4805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A fourth generation with no cuisine hint.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292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F4A36"/>
                </a:solidFill>
                <a:latin typeface="Outfit"/>
              </a:rPr>
              <a:t>The recommendation still leans Korean.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39496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6633"/>
                </a:solidFill>
                <a:latin typeface="JetBrains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3949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Log out, log back 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943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F4A36"/>
                </a:solidFill>
                <a:latin typeface="Outfit"/>
              </a:rPr>
              <a:t>Learned preferences survive.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DEMO IN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09 · DEMO</a:t>
            </a:r>
          </a:p>
        </p:txBody>
      </p:sp>
    </p:spTree>
  </p:cSld>
  <p:clrMapOvr>
    <a:masterClrMapping/>
  </p:clrMapOvr>
  <p:transition spd="med" dur="700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WHAT YOU JUST SAW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D291E"/>
                </a:solidFill>
                <a:latin typeface="Outfit"/>
              </a:rPr>
              <a:t>Three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74320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83464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FF6633"/>
                </a:solidFill>
                <a:latin typeface="JetBrains Mono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8463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91E"/>
                </a:solidFill>
                <a:latin typeface="Outfit"/>
              </a:rPr>
              <a:t>Real AI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53492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4A36"/>
                </a:solidFill>
                <a:latin typeface="Outfit"/>
              </a:rPr>
              <a:t>No cached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74320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83464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FF6633"/>
                </a:solidFill>
                <a:latin typeface="JetBrains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48463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91E"/>
                </a:solidFill>
                <a:latin typeface="Outfit"/>
              </a:rPr>
              <a:t>Preference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53492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4A36"/>
                </a:solidFill>
                <a:latin typeface="Outfit"/>
              </a:rPr>
              <a:t>Typed by hand.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274320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83464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FF6633"/>
                </a:solidFill>
                <a:latin typeface="JetBrains Mon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48463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291E"/>
                </a:solidFill>
                <a:latin typeface="Outfit"/>
              </a:rPr>
              <a:t>Learned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53492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4A36"/>
                </a:solidFill>
                <a:latin typeface="Outfit"/>
              </a:rPr>
              <a:t>Survived full logout.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RECAP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10 · NUMBERS</a:t>
            </a:r>
          </a:p>
        </p:txBody>
      </p:sp>
    </p:spTree>
  </p:cSld>
  <p:clrMapOvr>
    <a:masterClrMapping/>
  </p:clrMapOvr>
  <p:transition spd="med" dur="5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WHAT WAS HARD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D291E"/>
                </a:solidFill>
                <a:latin typeface="Outfit"/>
              </a:rPr>
              <a:t>Three real engineering stories.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65176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8346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633"/>
                </a:solidFill>
                <a:latin typeface="Outfit"/>
              </a:rPr>
              <a:t>Cross-request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474720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D291E"/>
                </a:solidFill>
                <a:latin typeface="Outfit"/>
              </a:rPr>
              <a:t>Jac writes in one request weren't visible to queries in the next.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5120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9D55"/>
                </a:solidFill>
                <a:latin typeface="Outfit"/>
              </a:rPr>
              <a:t>→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548640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F4A36"/>
                </a:solidFill>
                <a:latin typeface="Outfit"/>
              </a:rPr>
              <a:t>Fix: pass the data explicitly.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265176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28346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633"/>
                </a:solidFill>
                <a:latin typeface="Outfit"/>
              </a:rPr>
              <a:t>AI output 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474720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D291E"/>
                </a:solidFill>
                <a:latin typeface="Outfit"/>
              </a:rPr>
              <a:t>Qwen3-VL sometimes emits broken JSON.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5120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9D55"/>
                </a:solidFill>
                <a:latin typeface="Outfit"/>
              </a:rPr>
              <a:t>→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548640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F4A36"/>
                </a:solidFill>
                <a:latin typeface="Outfit"/>
              </a:rPr>
              <a:t>Fix: four-layer fallback parser.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265176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28346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633"/>
                </a:solidFill>
                <a:latin typeface="Outfit"/>
              </a:rPr>
              <a:t>The overwrite bug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3474720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D291E"/>
                </a:solidFill>
                <a:latin typeface="Outfit"/>
              </a:rPr>
              <a:t>First merge clobbered existing preferences.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5120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9D55"/>
                </a:solidFill>
                <a:latin typeface="Outfit"/>
              </a:rPr>
              <a:t>→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548640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F4A36"/>
                </a:solidFill>
                <a:latin typeface="Outfit"/>
              </a:rPr>
              <a:t>Caught in code review, not QA. Fixed with case-insensitive union-dedupe.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HONEST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11 · HARD PARTS</a:t>
            </a:r>
          </a:p>
        </p:txBody>
      </p:sp>
    </p:spTree>
  </p:cSld>
  <p:clrMapOvr>
    <a:masterClrMapping/>
  </p:clrMapOvr>
  <p:transition spd="med" dur="5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D291E"/>
                </a:solidFill>
                <a:latin typeface="Outfit"/>
              </a:rPr>
              <a:t>One done, one near, one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65176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834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33"/>
                </a:solidFill>
                <a:latin typeface="Outfit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2918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Reproducible demo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114800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4A36"/>
                </a:solidFill>
                <a:latin typeface="Outfit"/>
              </a:rPr>
              <a:t>Recorded for the submission package.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65176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834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33"/>
                </a:solidFill>
                <a:latin typeface="Outfit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2918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"Forget" button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4114800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4A36"/>
                </a:solidFill>
                <a:latin typeface="Outfit"/>
              </a:rPr>
              <a:t>Let users correct the AI's mistakes without resetting the whole profile.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265176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834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33"/>
                </a:solidFill>
                <a:latin typeface="Outfit"/>
              </a:rPr>
              <a:t>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2918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Outfit"/>
              </a:rPr>
              <a:t>Window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4114800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4A36"/>
                </a:solidFill>
                <a:latin typeface="Outfit"/>
              </a:rPr>
              <a:t>Is 14 days right? Longer windows drown out recent taste changes.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12 · WHAT'S NEXT</a:t>
            </a:r>
          </a:p>
        </p:txBody>
      </p:sp>
    </p:spTree>
  </p:cSld>
  <p:clrMapOvr>
    <a:masterClrMapping/>
  </p:clrMapOvr>
  <p:transition spd="med" dur="5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F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3291840" cy="32918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8229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200" b="1">
                <a:solidFill>
                  <a:srgbClr val="FF6633"/>
                </a:solidFill>
                <a:latin typeface="Outfit"/>
              </a:rPr>
              <a:t>THANKS FOR LISTENING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3D291E"/>
                </a:solidFill>
                <a:latin typeface="Outfit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8404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33"/>
                </a:solidFill>
                <a:latin typeface="Outfit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840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JetBrains Mono"/>
              </a:rPr>
              <a:t>github.com/ZhongYeah1/449proj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480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33"/>
                </a:solidFill>
                <a:latin typeface="Outfit"/>
              </a:rPr>
              <a:t>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4805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JetBrains Mono"/>
              </a:rPr>
              <a:t>Jaseci · Jac · Qwen3-VL-32B · OpenRouter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1206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33"/>
                </a:solidFill>
                <a:latin typeface="Outfit"/>
              </a:rPr>
              <a:t>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1206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291E"/>
                </a:solidFill>
                <a:latin typeface="JetBrains Mono"/>
              </a:rPr>
              <a:t>yeszhong@umich.edu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5D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05941"/>
                </a:solidFill>
                <a:latin typeface="Outfit"/>
              </a:rPr>
              <a:t>● FOODVISION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92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05941"/>
                </a:solidFill>
                <a:latin typeface="Outfit"/>
              </a:rPr>
              <a:t>13 · THANKS</a:t>
            </a:r>
          </a:p>
        </p:txBody>
      </p:sp>
    </p:spTree>
  </p:cSld>
  <p:clrMapOvr>
    <a:masterClrMapping/>
  </p:clrMapOvr>
  <p:transition spd="med"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